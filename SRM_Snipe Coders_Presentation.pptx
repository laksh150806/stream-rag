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r>
              <a:rPr sz="1300"/>
              <a:t>Theme ID - 4: Streaming Live RAG</a:t>
            </a:r>
          </a:p>
          <a:p>
            <a:r>
              <a:rPr sz="1300"/>
              <a:t>Team Name - Snipe Coders</a:t>
            </a:r>
          </a:p>
          <a:p>
            <a:r>
              <a:rPr sz="1300"/>
              <a:t>College Name - SRM Institute of Science and Technology</a:t>
            </a:r>
          </a:p>
          <a:p>
            <a:r>
              <a:rPr sz="1300"/>
              <a:t>Member Name &amp; Email 1- Laksh Nagori — lakshnagori1508@gmail.com</a:t>
            </a:r>
          </a:p>
          <a:p>
            <a:r>
              <a:rPr sz="1300"/>
              <a:t>Member Name &amp; Email 2- N/A</a:t>
            </a:r>
          </a:p>
          <a:p>
            <a:r>
              <a:rPr sz="1300"/>
              <a:t>Member Name &amp; Email 3- N/A</a:t>
            </a:r>
          </a:p>
          <a:p>
            <a:r>
              <a:rPr sz="1300"/>
              <a:t>Member Name &amp; Email 4- N/A</a:t>
            </a:r>
          </a:p>
          <a:p>
            <a:r>
              <a:rPr sz="1300"/>
              <a:t>Submission Github link - https://github.com/laksh150806/Stream-RAG</a:t>
            </a:r>
          </a:p>
          <a:p>
            <a:r>
              <a:rPr sz="1300"/>
              <a:t>Live demo - https://stream-rag.onrender.com</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Theme 4: Streaming Live RAG</a:t>
            </a:r>
          </a:p>
          <a:p>
            <a:pPr>
              <a:spcAft>
                <a:spcPts val="700"/>
              </a:spcAft>
              <a:defRPr sz="1700">
                <a:solidFill>
                  <a:srgbClr val="1E1E1E"/>
                </a:solidFill>
                <a:latin typeface="Aptos"/>
              </a:defRPr>
            </a:pPr>
            <a:r>
              <a:t>Problem: classic RAG waits until the user finishes speaking or typing.</a:t>
            </a:r>
          </a:p>
          <a:p>
            <a:pPr>
              <a:spcAft>
                <a:spcPts val="700"/>
              </a:spcAft>
              <a:defRPr sz="1700">
                <a:solidFill>
                  <a:srgbClr val="1E1E1E"/>
                </a:solidFill>
                <a:latin typeface="Aptos"/>
              </a:defRPr>
            </a:pPr>
            <a:r>
              <a:t>Goal: start retrieval as soon as intent is stable, then refine when new details arrive.</a:t>
            </a:r>
          </a:p>
          <a:p>
            <a:pPr>
              <a:spcAft>
                <a:spcPts val="700"/>
              </a:spcAft>
              <a:defRPr sz="1700">
                <a:solidFill>
                  <a:srgbClr val="1E1E1E"/>
                </a:solidFill>
                <a:latin typeface="Aptos"/>
              </a:defRPr>
            </a:pPr>
            <a:r>
              <a:t>Our prototype keeps the pipeline inspectable: controller decisions, intent scopes, evidence, answer versions and full trace are visible in the UI.</a:t>
            </a:r>
          </a:p>
          <a:p>
            <a:pPr>
              <a:spcAft>
                <a:spcPts val="700"/>
              </a:spcAft>
              <a:defRPr sz="1700">
                <a:solidFill>
                  <a:srgbClr val="1E1E1E"/>
                </a:solidFill>
                <a:latin typeface="Aptos"/>
              </a:defRPr>
            </a:pPr>
            <a:r>
              <a:t>Core demo runs without any API key or model download.</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Existing Solutions &amp; Gaps</a:t>
            </a:r>
          </a:p>
          <a:p>
            <a:pPr>
              <a:spcAft>
                <a:spcPts val="700"/>
              </a:spcAft>
              <a:defRPr sz="1700">
                <a:solidFill>
                  <a:srgbClr val="1E1E1E"/>
                </a:solidFill>
                <a:latin typeface="Aptos"/>
              </a:defRPr>
            </a:pPr>
            <a:r>
              <a:t>End-of-turn RAG: accurate only after final query, but adds avoidable waiting time.</a:t>
            </a:r>
          </a:p>
          <a:p>
            <a:pPr>
              <a:spcAft>
                <a:spcPts val="700"/>
              </a:spcAft>
              <a:defRPr sz="1700">
                <a:solidFill>
                  <a:srgbClr val="1E1E1E"/>
                </a:solidFill>
                <a:latin typeface="Aptos"/>
              </a:defRPr>
            </a:pPr>
            <a:r>
              <a:t>Simple keyword search: weak on paraphrases such as delegates → people or called off → cancellation.</a:t>
            </a:r>
          </a:p>
          <a:p>
            <a:pPr>
              <a:spcAft>
                <a:spcPts val="700"/>
              </a:spcAft>
              <a:defRPr sz="1700">
                <a:solidFill>
                  <a:srgbClr val="1E1E1E"/>
                </a:solidFill>
                <a:latin typeface="Aptos"/>
              </a:defRPr>
            </a:pPr>
            <a:r>
              <a:t>Generic chatbots: may answer fluently without showing grounded evidence.</a:t>
            </a:r>
          </a:p>
          <a:p>
            <a:pPr>
              <a:spcAft>
                <a:spcPts val="700"/>
              </a:spcAft>
              <a:defRPr sz="1700">
                <a:solidFill>
                  <a:srgbClr val="1E1E1E"/>
                </a:solidFill>
                <a:latin typeface="Aptos"/>
              </a:defRPr>
            </a:pPr>
            <a:r>
              <a:t>Live audio demos: often hide retrieval timing and do not prove selective refinement.</a:t>
            </a:r>
          </a:p>
          <a:p>
            <a:pPr>
              <a:spcAft>
                <a:spcPts val="700"/>
              </a:spcAft>
              <a:defRPr sz="1700">
                <a:solidFill>
                  <a:srgbClr val="1E1E1E"/>
                </a:solidFill>
                <a:latin typeface="Aptos"/>
              </a:defRPr>
            </a:pPr>
            <a:r>
              <a:t>Stream-RAG focuses on early retrieval, evidence grounding and observability.</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Our Solution &amp; Architecture</a:t>
            </a:r>
          </a:p>
          <a:p>
            <a:pPr>
              <a:spcAft>
                <a:spcPts val="700"/>
              </a:spcAft>
              <a:defRPr sz="1700">
                <a:solidFill>
                  <a:srgbClr val="1E1E1E"/>
                </a:solidFill>
                <a:latin typeface="Aptos"/>
              </a:defRPr>
            </a:pPr>
            <a:r>
              <a:t>Cumulative transcript fragments enter the Retrieval Controller.</a:t>
            </a:r>
          </a:p>
          <a:p>
            <a:pPr>
              <a:spcAft>
                <a:spcPts val="700"/>
              </a:spcAft>
              <a:defRPr sz="1700">
                <a:solidFill>
                  <a:srgbClr val="1E1E1E"/>
                </a:solidFill>
                <a:latin typeface="Aptos"/>
              </a:defRPr>
            </a:pPr>
            <a:r>
              <a:t>Controller decision: WAIT, RETRIEVE, REUSE or SUPPRESS.</a:t>
            </a:r>
          </a:p>
          <a:p>
            <a:pPr>
              <a:spcAft>
                <a:spcPts val="700"/>
              </a:spcAft>
              <a:defRPr sz="1700">
                <a:solidFill>
                  <a:srgbClr val="1E1E1E"/>
                </a:solidFill>
                <a:latin typeface="Aptos"/>
              </a:defRPr>
            </a:pPr>
            <a:r>
              <a:t>Multi-intent decomposer splits compound and multi-sentence requests.</a:t>
            </a:r>
          </a:p>
          <a:p>
            <a:pPr>
              <a:spcAft>
                <a:spcPts val="700"/>
              </a:spcAft>
              <a:defRPr sz="1700">
                <a:solidFill>
                  <a:srgbClr val="1E1E1E"/>
                </a:solidFill>
                <a:latin typeface="Aptos"/>
              </a:defRPr>
            </a:pPr>
            <a:r>
              <a:t>Per-intent scope keeps Pune capacity, Delhi cancellation and Bengaluru catering independent.</a:t>
            </a:r>
          </a:p>
          <a:p>
            <a:pPr>
              <a:spcAft>
                <a:spcPts val="700"/>
              </a:spcAft>
              <a:defRPr sz="1700">
                <a:solidFill>
                  <a:srgbClr val="1E1E1E"/>
                </a:solidFill>
                <a:latin typeface="Aptos"/>
              </a:defRPr>
            </a:pPr>
            <a:r>
              <a:t>Retrieval uses BM25 + concept normalization + metadata constraints.</a:t>
            </a:r>
          </a:p>
          <a:p>
            <a:pPr>
              <a:spcAft>
                <a:spcPts val="700"/>
              </a:spcAft>
              <a:defRPr sz="1700">
                <a:solidFill>
                  <a:srgbClr val="1E1E1E"/>
                </a:solidFill>
                <a:latin typeface="Aptos"/>
              </a:defRPr>
            </a:pPr>
            <a:r>
              <a:t>Citation guard validates exact source IDs and excerpts before output.</a:t>
            </a:r>
          </a:p>
          <a:p>
            <a:pPr>
              <a:spcAft>
                <a:spcPts val="700"/>
              </a:spcAft>
              <a:defRPr sz="1700">
                <a:solidFill>
                  <a:srgbClr val="1E1E1E"/>
                </a:solidFill>
                <a:latin typeface="Aptos"/>
              </a:defRPr>
            </a:pPr>
            <a:r>
              <a:t>Late corrections update only affected intents.</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500">
                <a:solidFill>
                  <a:srgbClr val="1E1E1E"/>
                </a:solidFill>
                <a:latin typeface="Aptos"/>
              </a:defRPr>
            </a:pPr>
            <a:r>
              <a:t>Demo &amp; Product Walkthrough</a:t>
            </a:r>
          </a:p>
          <a:p>
            <a:pPr>
              <a:spcAft>
                <a:spcPts val="700"/>
              </a:spcAft>
              <a:defRPr sz="1500">
                <a:solidFill>
                  <a:srgbClr val="1E1E1E"/>
                </a:solidFill>
                <a:latin typeface="Aptos"/>
              </a:defRPr>
            </a:pPr>
            <a:r>
              <a:t>1. Run: Workshop capacity in Pune and cancellation policy and catering options and accessibility.</a:t>
            </a:r>
          </a:p>
          <a:p>
            <a:pPr>
              <a:spcAft>
                <a:spcPts val="700"/>
              </a:spcAft>
              <a:defRPr sz="1500">
                <a:solidFill>
                  <a:srgbClr val="1E1E1E"/>
                </a:solidFill>
                <a:latin typeface="Aptos"/>
              </a:defRPr>
            </a:pPr>
            <a:r>
              <a:t>Shows early retrieval, multi-intent search and active evidence cards.</a:t>
            </a:r>
          </a:p>
          <a:p>
            <a:pPr>
              <a:spcAft>
                <a:spcPts val="700"/>
              </a:spcAft>
              <a:defRPr sz="1500">
                <a:solidFill>
                  <a:srgbClr val="1E1E1E"/>
                </a:solidFill>
                <a:latin typeface="Aptos"/>
              </a:defRPr>
            </a:pPr>
            <a:r>
              <a:t>2. Run: Actually city: Delhi.</a:t>
            </a:r>
          </a:p>
          <a:p>
            <a:pPr>
              <a:spcAft>
                <a:spcPts val="700"/>
              </a:spcAft>
              <a:defRPr sz="1500">
                <a:solidFill>
                  <a:srgbClr val="1E1E1E"/>
                </a:solidFill>
                <a:latin typeface="Aptos"/>
              </a:defRPr>
            </a:pPr>
            <a:r>
              <a:t>City-dependent claims refresh; accessibility is preserved.</a:t>
            </a:r>
          </a:p>
          <a:p>
            <a:pPr>
              <a:spcAft>
                <a:spcPts val="700"/>
              </a:spcAft>
              <a:defRPr sz="1500">
                <a:solidFill>
                  <a:srgbClr val="1E1E1E"/>
                </a:solidFill>
                <a:latin typeface="Aptos"/>
              </a:defRPr>
            </a:pPr>
            <a:r>
              <a:t>3. Run: Please repeat your last answer in two bullets.</a:t>
            </a:r>
          </a:p>
          <a:p>
            <a:pPr>
              <a:spcAft>
                <a:spcPts val="700"/>
              </a:spcAft>
              <a:defRPr sz="1500">
                <a:solidFill>
                  <a:srgbClr val="1E1E1E"/>
                </a:solidFill>
                <a:latin typeface="Aptos"/>
              </a:defRPr>
            </a:pPr>
            <a:r>
              <a:t>Controller suppresses new retrieval and reuses existing evidence.</a:t>
            </a:r>
          </a:p>
          <a:p>
            <a:pPr>
              <a:spcAft>
                <a:spcPts val="700"/>
              </a:spcAft>
              <a:defRPr sz="1500">
                <a:solidFill>
                  <a:srgbClr val="1E1E1E"/>
                </a:solidFill>
                <a:latin typeface="Aptos"/>
              </a:defRPr>
            </a:pPr>
            <a:r>
              <a:t>4. Run three independent sentences with Pune, Delhi and Bengaluru.</a:t>
            </a:r>
          </a:p>
          <a:p>
            <a:pPr>
              <a:spcAft>
                <a:spcPts val="700"/>
              </a:spcAft>
              <a:defRPr sz="1500">
                <a:solidFill>
                  <a:srgbClr val="1E1E1E"/>
                </a:solidFill>
                <a:latin typeface="Aptos"/>
              </a:defRPr>
            </a:pPr>
            <a:r>
              <a:t>Each intent keeps its own city scope.</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Tools and Tech Stack Used</a:t>
            </a:r>
          </a:p>
          <a:p>
            <a:pPr>
              <a:spcAft>
                <a:spcPts val="700"/>
              </a:spcAft>
              <a:defRPr sz="1700">
                <a:solidFill>
                  <a:srgbClr val="1E1E1E"/>
                </a:solidFill>
                <a:latin typeface="Aptos"/>
              </a:defRPr>
            </a:pPr>
            <a:r>
              <a:t>Frontend: Streamlit multipage app.</a:t>
            </a:r>
          </a:p>
          <a:p>
            <a:pPr>
              <a:spcAft>
                <a:spcPts val="700"/>
              </a:spcAft>
              <a:defRPr sz="1700">
                <a:solidFill>
                  <a:srgbClr val="1E1E1E"/>
                </a:solidFill>
                <a:latin typeface="Aptos"/>
              </a:defRPr>
            </a:pPr>
            <a:r>
              <a:t>Core language: Python 3.12.</a:t>
            </a:r>
          </a:p>
          <a:p>
            <a:pPr>
              <a:spcAft>
                <a:spcPts val="700"/>
              </a:spcAft>
              <a:defRPr sz="1700">
                <a:solidFill>
                  <a:srgbClr val="1E1E1E"/>
                </a:solidFill>
                <a:latin typeface="Aptos"/>
              </a:defRPr>
            </a:pPr>
            <a:r>
              <a:t>Retrieval: deterministic BM25, concept aliases, metadata filtering.</a:t>
            </a:r>
          </a:p>
          <a:p>
            <a:pPr>
              <a:spcAft>
                <a:spcPts val="700"/>
              </a:spcAft>
              <a:defRPr sz="1700">
                <a:solidFill>
                  <a:srgbClr val="1E1E1E"/>
                </a:solidFill>
                <a:latin typeface="Aptos"/>
              </a:defRPr>
            </a:pPr>
            <a:r>
              <a:t>State engine: custom StreamingSession controller in rag_core.py.</a:t>
            </a:r>
          </a:p>
          <a:p>
            <a:pPr>
              <a:spcAft>
                <a:spcPts val="700"/>
              </a:spcAft>
              <a:defRPr sz="1700">
                <a:solidFill>
                  <a:srgbClr val="1E1E1E"/>
                </a:solidFill>
                <a:latin typeface="Aptos"/>
              </a:defRPr>
            </a:pPr>
            <a:r>
              <a:t>Evaluation: unittest + authored development suite + GitHub Actions quality gate.</a:t>
            </a:r>
          </a:p>
          <a:p>
            <a:pPr>
              <a:spcAft>
                <a:spcPts val="700"/>
              </a:spcAft>
              <a:defRPr sz="1700">
                <a:solidFill>
                  <a:srgbClr val="1E1E1E"/>
                </a:solidFill>
                <a:latin typeface="Aptos"/>
              </a:defRPr>
            </a:pPr>
            <a:r>
              <a:t>Deployment: Render web service.</a:t>
            </a:r>
          </a:p>
          <a:p>
            <a:pPr>
              <a:spcAft>
                <a:spcPts val="700"/>
              </a:spcAft>
              <a:defRPr sz="1700">
                <a:solidFill>
                  <a:srgbClr val="1E1E1E"/>
                </a:solidFill>
                <a:latin typeface="Aptos"/>
              </a:defRPr>
            </a:pPr>
            <a:r>
              <a:t>Extension: browser audio/upload → Groq Whisper → transcript RAG.</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Impact &amp; Use Case</a:t>
            </a:r>
          </a:p>
          <a:p>
            <a:pPr>
              <a:spcAft>
                <a:spcPts val="700"/>
              </a:spcAft>
              <a:defRPr sz="1700">
                <a:solidFill>
                  <a:srgbClr val="1E1E1E"/>
                </a:solidFill>
                <a:latin typeface="Aptos"/>
              </a:defRPr>
            </a:pPr>
            <a:r>
              <a:t>Reduces perceived latency in voice or streaming text interfaces.</a:t>
            </a:r>
          </a:p>
          <a:p>
            <a:pPr>
              <a:spcAft>
                <a:spcPts val="700"/>
              </a:spcAft>
              <a:defRPr sz="1700">
                <a:solidFill>
                  <a:srgbClr val="1E1E1E"/>
                </a:solidFill>
                <a:latin typeface="Aptos"/>
              </a:defRPr>
            </a:pPr>
            <a:r>
              <a:t>Helps users ask compound questions naturally instead of one query at a time.</a:t>
            </a:r>
          </a:p>
          <a:p>
            <a:pPr>
              <a:spcAft>
                <a:spcPts val="700"/>
              </a:spcAft>
              <a:defRPr sz="1700">
                <a:solidFill>
                  <a:srgbClr val="1E1E1E"/>
                </a:solidFill>
                <a:latin typeface="Aptos"/>
              </a:defRPr>
            </a:pPr>
            <a:r>
              <a:t>Preserves trust by showing exact evidence instead of opaque model answers.</a:t>
            </a:r>
          </a:p>
          <a:p>
            <a:pPr>
              <a:spcAft>
                <a:spcPts val="700"/>
              </a:spcAft>
              <a:defRPr sz="1700">
                <a:solidFill>
                  <a:srgbClr val="1E1E1E"/>
                </a:solidFill>
                <a:latin typeface="Aptos"/>
              </a:defRPr>
            </a:pPr>
            <a:r>
              <a:t>Useful for live support, meeting assistants, policy lookup, news transcripts and operational dashboards.</a:t>
            </a:r>
          </a:p>
          <a:p>
            <a:pPr>
              <a:spcAft>
                <a:spcPts val="700"/>
              </a:spcAft>
              <a:defRPr sz="1700">
                <a:solidFill>
                  <a:srgbClr val="1E1E1E"/>
                </a:solidFill>
                <a:latin typeface="Aptos"/>
              </a:defRPr>
            </a:pPr>
            <a:r>
              <a:t>Designed as a PRISM worklet-ready prototype: deterministic core, low setup friction and clear telemetry.</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500">
                <a:solidFill>
                  <a:srgbClr val="1E1E1E"/>
                </a:solidFill>
                <a:latin typeface="Aptos"/>
              </a:defRPr>
            </a:pPr>
            <a:r>
              <a:t>Innovation Highlights, Results and Limitations</a:t>
            </a:r>
          </a:p>
          <a:p>
            <a:pPr>
              <a:spcAft>
                <a:spcPts val="700"/>
              </a:spcAft>
              <a:defRPr sz="1500">
                <a:solidFill>
                  <a:srgbClr val="1E1E1E"/>
                </a:solidFill>
                <a:latin typeface="Aptos"/>
              </a:defRPr>
            </a:pPr>
            <a:r>
              <a:t>Verified development evaluation: Full Stream-RAG 10/10 exact source-set checks.</a:t>
            </a:r>
          </a:p>
          <a:p>
            <a:pPr>
              <a:spcAft>
                <a:spcPts val="700"/>
              </a:spcAft>
              <a:defRPr sz="1500">
                <a:solidFill>
                  <a:srgbClr val="1E1E1E"/>
                </a:solidFill>
                <a:latin typeface="Aptos"/>
              </a:defRPr>
            </a:pPr>
            <a:r>
              <a:t>End-of-turn baseline also reaches 10/10 final accuracy, but 0/10 early retrieval.</a:t>
            </a:r>
          </a:p>
          <a:p>
            <a:pPr>
              <a:spcAft>
                <a:spcPts val="700"/>
              </a:spcAft>
              <a:defRPr sz="1500">
                <a:solidFill>
                  <a:srgbClr val="1E1E1E"/>
                </a:solidFill>
                <a:latin typeface="Aptos"/>
              </a:defRPr>
            </a:pPr>
            <a:r>
              <a:t>Stream-RAG performs provisional retrieval in 10/10 authored cases.</a:t>
            </a:r>
          </a:p>
          <a:p>
            <a:pPr>
              <a:spcAft>
                <a:spcPts val="700"/>
              </a:spcAft>
              <a:defRPr sz="1500">
                <a:solidFill>
                  <a:srgbClr val="1E1E1E"/>
                </a:solidFill>
                <a:latin typeface="Aptos"/>
              </a:defRPr>
            </a:pPr>
            <a:r>
              <a:t>Ablations: no decomposition 7/10, no selective refinement 9/10.</a:t>
            </a:r>
          </a:p>
          <a:p>
            <a:pPr>
              <a:spcAft>
                <a:spcPts val="700"/>
              </a:spcAft>
              <a:defRPr sz="1500">
                <a:solidFill>
                  <a:srgbClr val="1E1E1E"/>
                </a:solidFill>
                <a:latin typeface="Aptos"/>
              </a:defRPr>
            </a:pPr>
            <a:r>
              <a:t>Limitation: evaluation is small, authored and synthetic.</a:t>
            </a:r>
          </a:p>
          <a:p>
            <a:pPr>
              <a:spcAft>
                <a:spcPts val="700"/>
              </a:spcAft>
              <a:defRPr sz="1500">
                <a:solidFill>
                  <a:srgbClr val="1E1E1E"/>
                </a:solidFill>
                <a:latin typeface="Aptos"/>
              </a:defRPr>
            </a:pPr>
            <a:r>
              <a:t>Limitation: core retrieval is lexical BM25 with concept normalization, not dense semantic search.</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What’s Next</a:t>
            </a:r>
          </a:p>
          <a:p>
            <a:pPr>
              <a:spcAft>
                <a:spcPts val="700"/>
              </a:spcAft>
              <a:defRPr sz="1700">
                <a:solidFill>
                  <a:srgbClr val="1E1E1E"/>
                </a:solidFill>
                <a:latin typeface="Aptos"/>
              </a:defRPr>
            </a:pPr>
            <a:r>
              <a:t>Add a larger held-out evaluation suite with unseen paraphrases and multi-intent cases.</a:t>
            </a:r>
          </a:p>
          <a:p>
            <a:pPr>
              <a:spcAft>
                <a:spcPts val="700"/>
              </a:spcAft>
              <a:defRPr sz="1700">
                <a:solidFill>
                  <a:srgbClr val="1E1E1E"/>
                </a:solidFill>
                <a:latin typeface="Aptos"/>
              </a:defRPr>
            </a:pPr>
            <a:r>
              <a:t>Add optional dense retrieval or hybrid semantic reranking while keeping deterministic fallbacks.</a:t>
            </a:r>
          </a:p>
          <a:p>
            <a:pPr>
              <a:spcAft>
                <a:spcPts val="700"/>
              </a:spcAft>
              <a:defRPr sz="1700">
                <a:solidFill>
                  <a:srgbClr val="1E1E1E"/>
                </a:solidFill>
                <a:latin typeface="Aptos"/>
              </a:defRPr>
            </a:pPr>
            <a:r>
              <a:t>Add latency dashboard: first retrieval time, final answer time, reuse savings.</a:t>
            </a:r>
          </a:p>
          <a:p>
            <a:pPr>
              <a:spcAft>
                <a:spcPts val="700"/>
              </a:spcAft>
              <a:defRPr sz="1700">
                <a:solidFill>
                  <a:srgbClr val="1E1E1E"/>
                </a:solidFill>
                <a:latin typeface="Aptos"/>
              </a:defRPr>
            </a:pPr>
            <a:r>
              <a:t>Support more robust ASR chunk streams and real microphone transcript events.</a:t>
            </a:r>
          </a:p>
          <a:p>
            <a:pPr>
              <a:spcAft>
                <a:spcPts val="700"/>
              </a:spcAft>
              <a:defRPr sz="1700">
                <a:solidFill>
                  <a:srgbClr val="1E1E1E"/>
                </a:solidFill>
                <a:latin typeface="Aptos"/>
              </a:defRPr>
            </a:pPr>
            <a:r>
              <a:t>Package reusable controller API for other PRISM worklets.</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594360" y="1417320"/>
            <a:ext cx="7955279" cy="4206240"/>
          </a:xfrm>
          <a:prstGeom prst="rect">
            <a:avLst/>
          </a:prstGeom>
          <a:noFill/>
        </p:spPr>
        <p:txBody>
          <a:bodyPr wrap="square">
            <a:spAutoFit/>
          </a:bodyPr>
          <a:lstStyle/>
          <a:p>
            <a:pPr>
              <a:spcAft>
                <a:spcPts val="700"/>
              </a:spcAft>
              <a:defRPr sz="1700">
                <a:solidFill>
                  <a:srgbClr val="1E1E1E"/>
                </a:solidFill>
                <a:latin typeface="Aptos"/>
              </a:defRPr>
            </a:pPr>
            <a:r>
              <a:t>Brownie Points / Differentiation</a:t>
            </a:r>
          </a:p>
          <a:p>
            <a:pPr>
              <a:spcAft>
                <a:spcPts val="700"/>
              </a:spcAft>
              <a:defRPr sz="1700">
                <a:solidFill>
                  <a:srgbClr val="1E1E1E"/>
                </a:solidFill>
                <a:latin typeface="Aptos"/>
              </a:defRPr>
            </a:pPr>
            <a:r>
              <a:t>Judges can see controller state live: WAIT, RETRIEVE, REUSE, SUPPRESS.</a:t>
            </a:r>
          </a:p>
          <a:p>
            <a:pPr>
              <a:spcAft>
                <a:spcPts val="700"/>
              </a:spcAft>
              <a:defRPr sz="1700">
                <a:solidFill>
                  <a:srgbClr val="1E1E1E"/>
                </a:solidFill>
                <a:latin typeface="Aptos"/>
              </a:defRPr>
            </a:pPr>
            <a:r>
              <a:t>Independent scope handling prevents mixed-location answers.</a:t>
            </a:r>
          </a:p>
          <a:p>
            <a:pPr>
              <a:spcAft>
                <a:spcPts val="700"/>
              </a:spcAft>
              <a:defRPr sz="1700">
                <a:solidFill>
                  <a:srgbClr val="1E1E1E"/>
                </a:solidFill>
                <a:latin typeface="Aptos"/>
              </a:defRPr>
            </a:pPr>
            <a:r>
              <a:t>Late corrections are selective, not full session restarts.</a:t>
            </a:r>
          </a:p>
          <a:p>
            <a:pPr>
              <a:spcAft>
                <a:spcPts val="700"/>
              </a:spcAft>
              <a:defRPr sz="1700">
                <a:solidFill>
                  <a:srgbClr val="1E1E1E"/>
                </a:solidFill>
                <a:latin typeface="Aptos"/>
              </a:defRPr>
            </a:pPr>
            <a:r>
              <a:t>Formatting follow-ups do not waste retrieval calls.</a:t>
            </a:r>
          </a:p>
          <a:p>
            <a:pPr>
              <a:spcAft>
                <a:spcPts val="700"/>
              </a:spcAft>
              <a:defRPr sz="1700">
                <a:solidFill>
                  <a:srgbClr val="1E1E1E"/>
                </a:solidFill>
                <a:latin typeface="Aptos"/>
              </a:defRPr>
            </a:pPr>
            <a:r>
              <a:t>Full event trace and JSON export make the prototype auditable.</a:t>
            </a:r>
          </a:p>
          <a:p>
            <a:pPr>
              <a:spcAft>
                <a:spcPts val="700"/>
              </a:spcAft>
              <a:defRPr sz="1700">
                <a:solidFill>
                  <a:srgbClr val="1E1E1E"/>
                </a:solidFill>
                <a:latin typeface="Aptos"/>
              </a:defRPr>
            </a:pPr>
            <a:r>
              <a:t>CI gate verifies unit tests, UI smoke tests and development evaluation.</a:t>
            </a:r>
          </a:p>
        </p:txBody>
      </p:sp>
      <p:sp>
        <p:nvSpPr>
          <p:cNvPr id="5" name="TextBox 4"/>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TextBox 2"/>
          <p:cNvSpPr txBox="1"/>
          <p:nvPr/>
        </p:nvSpPr>
        <p:spPr>
          <a:xfrm>
            <a:off x="594360" y="1417320"/>
            <a:ext cx="7955279" cy="4206240"/>
          </a:xfrm>
          <a:prstGeom prst="rect">
            <a:avLst/>
          </a:prstGeom>
          <a:noFill/>
        </p:spPr>
        <p:txBody>
          <a:bodyPr wrap="square">
            <a:spAutoFit/>
          </a:bodyPr>
          <a:lstStyle/>
          <a:p>
            <a:pPr>
              <a:spcAft>
                <a:spcPts val="700"/>
              </a:spcAft>
              <a:defRPr sz="1500">
                <a:solidFill>
                  <a:srgbClr val="1E1E1E"/>
                </a:solidFill>
                <a:latin typeface="Aptos"/>
              </a:defRPr>
            </a:pPr>
            <a:r>
              <a:t>Checklist Updated on Public GitHub</a:t>
            </a:r>
          </a:p>
          <a:p>
            <a:pPr>
              <a:spcAft>
                <a:spcPts val="700"/>
              </a:spcAft>
              <a:defRPr sz="1500">
                <a:solidFill>
                  <a:srgbClr val="1E1E1E"/>
                </a:solidFill>
                <a:latin typeface="Aptos"/>
              </a:defRPr>
            </a:pPr>
            <a:r>
              <a:t>Working prototype code — YES</a:t>
            </a:r>
          </a:p>
          <a:p>
            <a:pPr>
              <a:spcAft>
                <a:spcPts val="700"/>
              </a:spcAft>
              <a:defRPr sz="1500">
                <a:solidFill>
                  <a:srgbClr val="1E1E1E"/>
                </a:solidFill>
                <a:latin typeface="Aptos"/>
              </a:defRPr>
            </a:pPr>
            <a:r>
              <a:t>README with reproducible setup instructions — YES</a:t>
            </a:r>
          </a:p>
          <a:p>
            <a:pPr>
              <a:spcAft>
                <a:spcPts val="700"/>
              </a:spcAft>
              <a:defRPr sz="1500">
                <a:solidFill>
                  <a:srgbClr val="1E1E1E"/>
                </a:solidFill>
                <a:latin typeface="Aptos"/>
              </a:defRPr>
            </a:pPr>
            <a:r>
              <a:t>requirements.txt / Dockerfile / render.yaml — YES</a:t>
            </a:r>
          </a:p>
          <a:p>
            <a:pPr>
              <a:spcAft>
                <a:spcPts val="700"/>
              </a:spcAft>
              <a:defRPr sz="1500">
                <a:solidFill>
                  <a:srgbClr val="1E1E1E"/>
                </a:solidFill>
                <a:latin typeface="Aptos"/>
              </a:defRPr>
            </a:pPr>
            <a:r>
              <a:t>Presentation file in repository — YES</a:t>
            </a:r>
          </a:p>
          <a:p>
            <a:pPr>
              <a:spcAft>
                <a:spcPts val="700"/>
              </a:spcAft>
              <a:defRPr sz="1500">
                <a:solidFill>
                  <a:srgbClr val="1E1E1E"/>
                </a:solidFill>
                <a:latin typeface="Aptos"/>
              </a:defRPr>
            </a:pPr>
            <a:r>
              <a:t>AI usage disclosure in repository — YES</a:t>
            </a:r>
          </a:p>
          <a:p>
            <a:pPr>
              <a:spcAft>
                <a:spcPts val="700"/>
              </a:spcAft>
              <a:defRPr sz="1500">
                <a:solidFill>
                  <a:srgbClr val="1E1E1E"/>
                </a:solidFill>
                <a:latin typeface="Aptos"/>
              </a:defRPr>
            </a:pPr>
            <a:r>
              <a:t>Demo video — PENDING LINK</a:t>
            </a:r>
          </a:p>
          <a:p>
            <a:pPr>
              <a:spcAft>
                <a:spcPts val="700"/>
              </a:spcAft>
              <a:defRPr sz="1500">
                <a:solidFill>
                  <a:srgbClr val="1E1E1E"/>
                </a:solidFill>
                <a:latin typeface="Aptos"/>
              </a:defRPr>
            </a:pPr>
            <a:r>
              <a:t>Required tag PRISM_GENAI_HACKATHON_Y2026 — create after video link is added</a:t>
            </a:r>
          </a:p>
        </p:txBody>
      </p:sp>
      <p:sp>
        <p:nvSpPr>
          <p:cNvPr id="4" name="TextBox 3"/>
          <p:cNvSpPr txBox="1"/>
          <p:nvPr/>
        </p:nvSpPr>
        <p:spPr>
          <a:xfrm>
            <a:off x="594360" y="6172200"/>
            <a:ext cx="7955279" cy="365760"/>
          </a:xfrm>
          <a:prstGeom prst="rect">
            <a:avLst/>
          </a:prstGeom>
          <a:noFill/>
        </p:spPr>
        <p:txBody>
          <a:bodyPr wrap="none">
            <a:spAutoFit/>
          </a:bodyPr>
          <a:lstStyle/>
          <a:p>
            <a:pPr>
              <a:defRPr sz="1000">
                <a:solidFill>
                  <a:srgbClr val="5A5A5A"/>
                </a:solidFill>
              </a:defRPr>
            </a:pPr>
            <a:r>
              <a:t>Stream-RAG · Snipe Coders · SRM Institute of Science and Technology</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594360" y="2468880"/>
            <a:ext cx="7955279" cy="1371600"/>
          </a:xfrm>
          <a:prstGeom prst="rect">
            <a:avLst/>
          </a:prstGeom>
          <a:noFill/>
        </p:spPr>
        <p:txBody>
          <a:bodyPr wrap="square">
            <a:spAutoFit/>
          </a:bodyPr>
          <a:lstStyle/>
          <a:p>
            <a:pPr>
              <a:spcAft>
                <a:spcPts val="700"/>
              </a:spcAft>
              <a:defRPr sz="1800">
                <a:solidFill>
                  <a:srgbClr val="1E1E1E"/>
                </a:solidFill>
                <a:latin typeface="Aptos"/>
              </a:defRPr>
            </a:pPr>
            <a:r>
              <a:t>GitHub: https://github.com/laksh150806/Stream-RAG</a:t>
            </a:r>
          </a:p>
          <a:p>
            <a:pPr>
              <a:spcAft>
                <a:spcPts val="700"/>
              </a:spcAft>
              <a:defRPr sz="1800">
                <a:solidFill>
                  <a:srgbClr val="1E1E1E"/>
                </a:solidFill>
                <a:latin typeface="Aptos"/>
              </a:defRPr>
            </a:pPr>
            <a:r>
              <a:t>Live Demo: https://stream-rag.onrender.com</a:t>
            </a:r>
          </a:p>
          <a:p>
            <a:pPr>
              <a:spcAft>
                <a:spcPts val="700"/>
              </a:spcAft>
              <a:defRPr sz="1800">
                <a:solidFill>
                  <a:srgbClr val="1E1E1E"/>
                </a:solidFill>
                <a:latin typeface="Aptos"/>
              </a:defRPr>
            </a:pPr>
            <a:r>
              <a:t>Demo Video: link will be added before final tag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